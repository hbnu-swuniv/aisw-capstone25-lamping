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4" r:id="rId4"/>
    <p:sldId id="279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C012-8EC6-4F04-828D-1755EE92D05B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B5EA5-C388-4DCA-94F0-1896AEADB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1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220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93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02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6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733-2C67-2B1C-9903-1F41453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1B5898-BD48-CFFC-3FA9-1915E5CF6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4A643-E071-D4E9-BE73-A8E99B70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A8296-6661-1591-58CA-4A66A8D5C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E4CC9-18E1-49CD-9E81-BF8BC9ECC6F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9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63F0-BE59-8B63-8FD3-264AB575B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37B16C-B1BA-5DEF-05B8-4D5F82C06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8A68DE-B4D9-F773-14C5-5DFDF2B9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13D31-B8E1-452B-A7BB-E9C9CB1A734F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CBD19-C4F7-D194-D757-008EFD4D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87B7-355E-28F2-62C8-AFEEAF39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19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71B2A-DC55-4A78-F6BF-3CD8CCDE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D6091-3426-FF73-E427-03EC77DF8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743418-7EFE-C2F5-3EFE-EEF187178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CDCA3-6501-4B57-B8EB-C6E5EC6D4C44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55F65-647F-7C92-9237-164D607C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120218-9888-33D9-077F-8BAB9D73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D0210-7A02-3D49-586E-99E6FA481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717DE-F361-894C-F380-2A3D9345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4B915-FDB9-EE6E-1F19-E142B67A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4D00A-6E4E-4200-A530-7A104A74A3F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ED3988-231A-0E5A-62FC-9D98A92B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1C252-FBF0-E7D0-A64F-E3D476DF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12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20AF5-4E13-3B62-82A9-AB8D69CB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5A5C48-FA7F-2FF6-7209-0821F962C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DBF096-8B53-3499-01B9-A4853F571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5D13A-684A-F22C-9EC3-E0338E13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1969-548B-43D8-B0CB-F32019D96CC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12C870-8367-9F9D-F52C-10750B28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39782-D94C-7DC8-C235-053A984D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47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BE7B6-1594-A06B-D430-5A236C52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A037B-0865-38F6-4DC1-45A5D01E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4C2A99-DDB5-A5B0-0234-C45E49657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E7914E1-AD2D-63CD-D59D-EEAEA81CD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81C9D4-B920-D20F-FF28-69012929B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C3CFB0-8832-55D6-8503-A9EBDD23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ADB6-7C0E-45EC-9DD0-1D405B65214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3282FB-3CB6-2599-809E-AC5F4EFF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AA98ED-C387-8DF9-AA9A-EC606A4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54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E78D0-67BC-284B-1D11-058F1441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4B1509-8AFF-C97A-C3F7-A51694D8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6239E-426F-42BF-A4CE-CA686C03EAAA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DAA297-721D-0FE6-18B9-49AC144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684FBB-9523-B05A-199C-F7E6714F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3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2BEBCC-5C3E-82A1-8D41-95C2563F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B78C-A074-4D3F-8626-22853BB67296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6388EFD-10EC-5B69-C2DA-5D0D8D7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BCD12-AEA8-AEB8-5220-38797715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E6C23-C028-A97F-5D7E-7D27D376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FA985-9282-BBFB-2AE0-2B5945D2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BE57E-D36D-5649-E0C7-D7E609455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15C61F-1A7B-7889-A152-3340D53A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F8D88-6649-46AC-82BC-2C635BCD1F1C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22CC0A-4064-DA9A-C179-D2F48CBE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669BE4-C186-1F24-15B8-77AA3362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84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B555D-DC2E-8CDB-7552-153A82BC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876BB-0C7A-8A7B-BBA1-03589E1D4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0E86D-E922-85CB-62A8-65D733F40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35B2FA-EAA2-2E49-D1AE-43CBA5B6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12488-3074-45FE-BAE8-3D660B46117D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A90B0-7F4B-1F26-07B3-0982B2F3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CB231-2FD4-FE51-6E6B-ADCBE118D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53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68DBB-38DD-F29C-295E-482EB51B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18A8E3-58B9-7857-478B-B4D587197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B88D13-A3C8-7683-8A78-A1963FE5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2BC4-2D75-4377-94ED-D6BCDA059EEE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2EC04-839D-11D2-12C0-95BA032FB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FA17D-59DF-05EB-CF4C-91FE1A3B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95965F-096B-592B-EEA3-E39399A02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48E65A-9808-827D-5B8C-ACA90DCAC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B5B39-8BC4-DA62-A249-66204EE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7DE63-81FF-4A0C-99CB-55A827C8C17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7E9A1-6656-77D6-32A1-4393E3C8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0E8573-3001-CD4F-7D68-659EEDC6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98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C1367D-BB57-CE21-3021-7586E9EF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492C3-F43D-3231-4AF1-6ADF272F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3C2B2-089F-1E53-7F8A-BDBEC657D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23A39-99ED-4A4B-AD1F-F60C02094030}" type="datetime1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AA1E82-483E-12E5-3595-2C8A3D52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037E2-D36D-BAA7-60B3-0119819B1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7D838-F0B8-4E6A-9591-18F1175E3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38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E32F3-9561-9E8B-A883-33FEB78C2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519"/>
            <a:ext cx="12192000" cy="1090036"/>
          </a:xfrm>
        </p:spPr>
        <p:txBody>
          <a:bodyPr>
            <a:normAutofit fontScale="90000"/>
          </a:bodyPr>
          <a:lstStyle/>
          <a:p>
            <a:r>
              <a:rPr lang="ko-KR" altLang="en-US" sz="4000" b="1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캡스톤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 디자인</a:t>
            </a:r>
            <a:b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r>
              <a:rPr lang="ko-KR" altLang="en-US" sz="40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학기 계획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0F14D-2536-6E4D-DEF6-BE9EB959A551}"/>
              </a:ext>
            </a:extLst>
          </p:cNvPr>
          <p:cNvSpPr txBox="1"/>
          <p:nvPr/>
        </p:nvSpPr>
        <p:spPr>
          <a:xfrm>
            <a:off x="7490691" y="4447164"/>
            <a:ext cx="38550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인공지능소프트웨어학과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최진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정현서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  <a:p>
            <a:pPr algn="r"/>
            <a:r>
              <a:rPr lang="ko-KR" altLang="en-US" sz="20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정진교</a:t>
            </a:r>
            <a:endParaRPr lang="en-US" altLang="ko-KR" sz="2000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1244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431B4-0DD0-738D-66A6-929324D7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ko-KR" altLang="en-US" sz="3500" b="1" dirty="0"/>
              <a:t>목차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1EC8FD-09A2-E9CD-AA13-E8F375F9F7F8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3A9E91-B093-77D6-35CC-D5A744140C7A}"/>
              </a:ext>
            </a:extLst>
          </p:cNvPr>
          <p:cNvSpPr txBox="1"/>
          <p:nvPr/>
        </p:nvSpPr>
        <p:spPr>
          <a:xfrm>
            <a:off x="807027" y="1774628"/>
            <a:ext cx="3818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주제 및 선정 배경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08AC5-BCEB-E46A-C75C-E8465E0BE0C4}"/>
              </a:ext>
            </a:extLst>
          </p:cNvPr>
          <p:cNvSpPr txBox="1"/>
          <p:nvPr/>
        </p:nvSpPr>
        <p:spPr>
          <a:xfrm>
            <a:off x="838200" y="2989885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목적 및 기대 효과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4871DC-446C-421F-FC8A-D7644F07E5B3}"/>
              </a:ext>
            </a:extLst>
          </p:cNvPr>
          <p:cNvSpPr txBox="1"/>
          <p:nvPr/>
        </p:nvSpPr>
        <p:spPr>
          <a:xfrm>
            <a:off x="838200" y="4205142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내용 및 방법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ED097-E7C3-2C99-AC76-43DE8AE23B37}"/>
              </a:ext>
            </a:extLst>
          </p:cNvPr>
          <p:cNvSpPr txBox="1"/>
          <p:nvPr/>
        </p:nvSpPr>
        <p:spPr>
          <a:xfrm>
            <a:off x="6687541" y="2236293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환경 및 결과물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B373F-3885-F2EF-2E5B-606CE405C74A}"/>
              </a:ext>
            </a:extLst>
          </p:cNvPr>
          <p:cNvSpPr txBox="1"/>
          <p:nvPr/>
        </p:nvSpPr>
        <p:spPr>
          <a:xfrm>
            <a:off x="6687541" y="3608967"/>
            <a:ext cx="4058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24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일정 및 계획</a:t>
            </a:r>
            <a:endParaRPr lang="en-US" altLang="ko-KR" sz="24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D8456AB-8641-3E22-5472-46BE54BF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95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1.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주제 및 선정 배경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2086587"/>
            <a:ext cx="109882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주제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자율 주행 로봇의 신호 추적 및 장애물 회피 경로 최적화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주제 선정 배경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대형 주차장과 같은 복잡한 도심 환경에서 주차 문제는 스트레스를 겪는 상황으로 이어질 수 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이런 문제를 해결하기 위해 차량이 스스로 사용자의 위치를 찾아 이동하도록 유도하는 기술에 대한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수요가 증가하고 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0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2.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목적 및 기대 효과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2086586"/>
            <a:ext cx="109882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목적 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자율 주행 로봇이 사용자가 무선 송신기로 전송한 목표 지점으로 스스로 찾아가는 시스템을 개발하는 것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기대효과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물류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서비스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의료 지원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서빙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등 다양한 산업 분야에서 작업을 수행하여 실용성과 효율성을 극대화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할 수 있을 것으로 기대된다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918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3.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내용 및 방법</a:t>
            </a:r>
            <a:endParaRPr lang="ko-KR" altLang="en-US" sz="35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6" y="1750409"/>
            <a:ext cx="109882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내용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지도 생성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LiDAT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카메라를 사용하여 주변 환경의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3D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데이터 수집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SLAM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알고리즘으로 지도를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작성하고 지도 내 로봇의 위치를 추정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좌표로 변환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송신기로부터 받은 목적지 데이터를 로컬 좌표로 변환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목표 지점의 좌표를 기반으로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최적의 경로 탐색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경로 추천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초기 경로는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DijKstara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같은 위치 추정 알고리즘을 이용하여 장애물과 목표지점을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고려한 최단 경로 설정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이동중 경로상의 변수를 반영하여 동적으로 업데이트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 탐지 및 회피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LiDAR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와 카메라 센서를 사용해 이동 경로상의 장애물을 지속적으로 확인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	  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장애물이 주행 경로에 나타날 경우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장애물의 위치와 크기를 파악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피해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                  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갈 수 있는지 경로를 재설정 할지 판단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43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4.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개발 환경 및 결과물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517235" y="1166237"/>
            <a:ext cx="109882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개발 환경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하드웨어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en-US" altLang="ko-KR" sz="20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turtlebot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센서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LiDAR,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카메라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Bluetooth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알고리즘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SLAM</a:t>
            </a: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기타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: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넓은 공간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주행 환경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동적 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or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정적 장애물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기대 결과물</a:t>
            </a:r>
            <a:endParaRPr lang="en-US" altLang="ko-KR" sz="2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센서 데이터를 기반으로 감지되는 장애물 위치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이동 가능 경로가 시각화된 맵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장애물 회피 알고리즘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수집된 센서 신호를 좌표로 변환하는 시스템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 -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효율적이고 안전한 최적 경로 탐색 알고리즘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642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26B5-FD02-8BEF-E5B7-D12AD32D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8EFD3-4D14-8A2B-65BD-13F627F9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564"/>
            <a:ext cx="10515600" cy="796895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5. </a:t>
            </a:r>
            <a:r>
              <a:rPr lang="ko-KR" altLang="en-US" sz="3600" b="1" dirty="0">
                <a:latin typeface="HY견명조" panose="02030600000101010101" pitchFamily="18" charset="-127"/>
                <a:ea typeface="HY견명조" panose="02030600000101010101" pitchFamily="18" charset="-127"/>
              </a:rPr>
              <a:t>연구 일정 및 계획</a:t>
            </a:r>
            <a:endParaRPr lang="en-US" altLang="ko-KR" sz="3600" b="1" dirty="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63FC11-8406-EE55-FFF6-C9BBB2E71FC3}"/>
              </a:ext>
            </a:extLst>
          </p:cNvPr>
          <p:cNvCxnSpPr>
            <a:cxnSpLocks/>
          </p:cNvCxnSpPr>
          <p:nvPr/>
        </p:nvCxnSpPr>
        <p:spPr>
          <a:xfrm>
            <a:off x="517236" y="1078186"/>
            <a:ext cx="1098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E5B915-D991-DA21-5968-BBCE61BE26B3}"/>
              </a:ext>
            </a:extLst>
          </p:cNvPr>
          <p:cNvSpPr txBox="1"/>
          <p:nvPr/>
        </p:nvSpPr>
        <p:spPr>
          <a:xfrm>
            <a:off x="838200" y="1618559"/>
            <a:ext cx="10988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연구 일정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FAF7C9-6818-F002-0442-FC9F4BBC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519680"/>
              </p:ext>
            </p:extLst>
          </p:nvPr>
        </p:nvGraphicFramePr>
        <p:xfrm>
          <a:off x="838200" y="2372714"/>
          <a:ext cx="10515602" cy="3958981"/>
        </p:xfrm>
        <a:graphic>
          <a:graphicData uri="http://schemas.openxmlformats.org/drawingml/2006/table">
            <a:tbl>
              <a:tblPr/>
              <a:tblGrid>
                <a:gridCol w="70019">
                  <a:extLst>
                    <a:ext uri="{9D8B030D-6E8A-4147-A177-3AD203B41FA5}">
                      <a16:colId xmlns:a16="http://schemas.microsoft.com/office/drawing/2014/main" val="1180479747"/>
                    </a:ext>
                  </a:extLst>
                </a:gridCol>
                <a:gridCol w="3757910">
                  <a:extLst>
                    <a:ext uri="{9D8B030D-6E8A-4147-A177-3AD203B41FA5}">
                      <a16:colId xmlns:a16="http://schemas.microsoft.com/office/drawing/2014/main" val="3106035271"/>
                    </a:ext>
                  </a:extLst>
                </a:gridCol>
                <a:gridCol w="726142">
                  <a:extLst>
                    <a:ext uri="{9D8B030D-6E8A-4147-A177-3AD203B41FA5}">
                      <a16:colId xmlns:a16="http://schemas.microsoft.com/office/drawing/2014/main" val="924152341"/>
                    </a:ext>
                  </a:extLst>
                </a:gridCol>
                <a:gridCol w="672353">
                  <a:extLst>
                    <a:ext uri="{9D8B030D-6E8A-4147-A177-3AD203B41FA5}">
                      <a16:colId xmlns:a16="http://schemas.microsoft.com/office/drawing/2014/main" val="140015438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32056453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15924960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33416704"/>
                    </a:ext>
                  </a:extLst>
                </a:gridCol>
                <a:gridCol w="726141">
                  <a:extLst>
                    <a:ext uri="{9D8B030D-6E8A-4147-A177-3AD203B41FA5}">
                      <a16:colId xmlns:a16="http://schemas.microsoft.com/office/drawing/2014/main" val="3297453123"/>
                    </a:ext>
                  </a:extLst>
                </a:gridCol>
                <a:gridCol w="645459">
                  <a:extLst>
                    <a:ext uri="{9D8B030D-6E8A-4147-A177-3AD203B41FA5}">
                      <a16:colId xmlns:a16="http://schemas.microsoft.com/office/drawing/2014/main" val="126493651"/>
                    </a:ext>
                  </a:extLst>
                </a:gridCol>
                <a:gridCol w="605117">
                  <a:extLst>
                    <a:ext uri="{9D8B030D-6E8A-4147-A177-3AD203B41FA5}">
                      <a16:colId xmlns:a16="http://schemas.microsoft.com/office/drawing/2014/main" val="3894732375"/>
                    </a:ext>
                  </a:extLst>
                </a:gridCol>
                <a:gridCol w="591671">
                  <a:extLst>
                    <a:ext uri="{9D8B030D-6E8A-4147-A177-3AD203B41FA5}">
                      <a16:colId xmlns:a16="http://schemas.microsoft.com/office/drawing/2014/main" val="107622852"/>
                    </a:ext>
                  </a:extLst>
                </a:gridCol>
                <a:gridCol w="623049">
                  <a:extLst>
                    <a:ext uri="{9D8B030D-6E8A-4147-A177-3AD203B41FA5}">
                      <a16:colId xmlns:a16="http://schemas.microsoft.com/office/drawing/2014/main" val="3498346443"/>
                    </a:ext>
                  </a:extLst>
                </a:gridCol>
              </a:tblGrid>
              <a:tr h="525796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연구내용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0828228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기술 및 구현 조건 파악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81102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맵 제작 및 테스트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62410"/>
                  </a:ext>
                </a:extLst>
              </a:tr>
              <a:tr h="8042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휴대폰을 이용하여 로봇에 좌표 정보 전송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271990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경로 탐색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재탐색 알고리즘 개발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755523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장애물 탐지 및 회피 알고리즘 개발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991725"/>
                  </a:ext>
                </a:extLst>
              </a:tr>
              <a:tr h="5257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통합 및 최종 성능 검증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17907" marR="17907" marT="17907" marB="1790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674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86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61120" y="3112887"/>
            <a:ext cx="813046" cy="58910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1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435</Words>
  <Application>Microsoft Office PowerPoint</Application>
  <PresentationFormat>와이드스크린</PresentationFormat>
  <Paragraphs>102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HY견명조</vt:lpstr>
      <vt:lpstr>맑은 고딕</vt:lpstr>
      <vt:lpstr>바탕</vt:lpstr>
      <vt:lpstr>휴먼모음T</vt:lpstr>
      <vt:lpstr>Arial</vt:lpstr>
      <vt:lpstr>Office 테마</vt:lpstr>
      <vt:lpstr>캡스톤 디자인 1학기 계획 발표</vt:lpstr>
      <vt:lpstr>목차</vt:lpstr>
      <vt:lpstr>1. 연구 주제 및 선정 배경</vt:lpstr>
      <vt:lpstr>2. 연구 목적 및 기대 효과</vt:lpstr>
      <vt:lpstr>3. 연구 내용 및 방법</vt:lpstr>
      <vt:lpstr>4. 개발 환경 및 결과물</vt:lpstr>
      <vt:lpstr>5. 연구 일정 및 계획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의미 기반 객체 탐지와 가벽 생성을 통한  실시간 자율주행 경로 계획 시스템</dc:title>
  <dc:creator>최진</dc:creator>
  <cp:lastModifiedBy>최진</cp:lastModifiedBy>
  <cp:revision>30</cp:revision>
  <dcterms:created xsi:type="dcterms:W3CDTF">2025-06-04T15:33:36Z</dcterms:created>
  <dcterms:modified xsi:type="dcterms:W3CDTF">2025-11-30T05:47:36Z</dcterms:modified>
</cp:coreProperties>
</file>